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Urbanis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2878DDC-FFB7-46C4-826C-242B24A26B58}">
  <a:tblStyle styleId="{42878DDC-FFB7-46C4-826C-242B24A26B5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bold.fntdata"/><Relationship Id="rId11" Type="http://schemas.openxmlformats.org/officeDocument/2006/relationships/slide" Target="slides/slide5.xml"/><Relationship Id="rId22" Type="http://schemas.openxmlformats.org/officeDocument/2006/relationships/font" Target="fonts/Urbanist-boldItalic.fntdata"/><Relationship Id="rId10" Type="http://schemas.openxmlformats.org/officeDocument/2006/relationships/slide" Target="slides/slide4.xml"/><Relationship Id="rId21" Type="http://schemas.openxmlformats.org/officeDocument/2006/relationships/font" Target="fonts/Urbanist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Urbanist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11" Type="http://schemas.openxmlformats.org/officeDocument/2006/relationships/image" Target="../media/image15.png"/><Relationship Id="rId10" Type="http://schemas.openxmlformats.org/officeDocument/2006/relationships/image" Target="../media/image18.png"/><Relationship Id="rId12" Type="http://schemas.openxmlformats.org/officeDocument/2006/relationships/image" Target="../media/image14.png"/><Relationship Id="rId9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0.png"/><Relationship Id="rId6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5.png"/><Relationship Id="rId5" Type="http://schemas.openxmlformats.org/officeDocument/2006/relationships/image" Target="../media/image23.png"/><Relationship Id="rId6" Type="http://schemas.openxmlformats.org/officeDocument/2006/relationships/image" Target="../media/image26.png"/><Relationship Id="rId7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028973"/>
            <a:ext cx="11601450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Task 4: Data </a:t>
            </a:r>
            <a:r>
              <a:rPr b="1" i="0" lang="en-US" sz="5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Storytelling</a:t>
            </a:r>
            <a:r>
              <a:rPr b="1" i="0" lang="en-US" sz="5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&amp; Statistical </a:t>
            </a:r>
            <a:r>
              <a:rPr b="1" i="0" lang="en-US" sz="5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Validation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823245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ApexPlanet Software Pvt. Ltd. | Data Analytics Internship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371826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66666"/>
                </a:solidFill>
                <a:latin typeface="Urbanist"/>
                <a:ea typeface="Urbanist"/>
                <a:cs typeface="Urbanist"/>
                <a:sym typeface="Urbanist"/>
              </a:rPr>
              <a:t>Building compelling business narratives through data-driven rigor.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3678" y="1729680"/>
            <a:ext cx="5286821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571500"/>
            <a:ext cx="376047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Task </a:t>
            </a:r>
            <a:r>
              <a:rPr b="1" i="0" lang="en-US" sz="4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Objective</a:t>
            </a:r>
            <a:endParaRPr/>
          </a:p>
        </p:txBody>
      </p:sp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203" y="1739205"/>
            <a:ext cx="16097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04875" y="1882080"/>
            <a:ext cx="4952553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Craft the Data Story: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Synthesizing exploratory findings into a cohesive narrative for stakeholders.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04875" y="2558355"/>
            <a:ext cx="4952553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Statistical Validation: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Applying rigorous tests to validate business hypotheses and ensure accuracy.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04875" y="3234630"/>
            <a:ext cx="4952553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Business Impact: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Translating analytical results into actionable strategies for credit risk mitigation.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924942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60121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277492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29680"/>
            <a:ext cx="3555950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1729680"/>
            <a:ext cx="3555950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1729680"/>
            <a:ext cx="3556099" cy="31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71500" y="571500"/>
            <a:ext cx="6610826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Analysis </a:t>
            </a:r>
            <a:r>
              <a:rPr b="1" i="0" lang="en-US" sz="4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Recap</a:t>
            </a:r>
            <a:r>
              <a:rPr b="1" i="0" lang="en-US" sz="4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(Tasks 1-3)</a:t>
            </a:r>
            <a:endParaRPr/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02495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866775" y="2786955"/>
            <a:ext cx="311367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Wrangling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66775" y="3339405"/>
            <a:ext cx="29654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Cleaned 500+ customer records, handled missing credit scores, and engineered reliability features.</a:t>
            </a:r>
            <a:endParaRPr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3225" y="202495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4613225" y="2786955"/>
            <a:ext cx="311367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EDA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613225" y="3339405"/>
            <a:ext cx="2965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Identified high utilization and delinquency trends across major urban hubs like Los Angeles and New York.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9675" y="202495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8359675" y="2786955"/>
            <a:ext cx="311382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Deep-Dive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359675" y="3339405"/>
            <a:ext cx="2965549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Created interactive dashboards for Risk Segmentation, focusing on Churn and Average Order Value KPIs.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23937" y="2196405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84675" y="219640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31125" y="2196405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29680"/>
            <a:ext cx="11049000" cy="4556819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571500" y="571500"/>
            <a:ext cx="5900737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b="1" i="0" lang="en-US" sz="4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Current</a:t>
            </a:r>
            <a:r>
              <a:rPr b="1" i="0" lang="en-US" sz="4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Landscape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571500" y="5730180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40% of the customer base falls into the "High" or "Critical" risk categories, requiring immediate strategic intervention.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29680"/>
            <a:ext cx="5286821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571500" y="571500"/>
            <a:ext cx="6820852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Story: The </a:t>
            </a:r>
            <a:r>
              <a:rPr b="1" i="0" lang="en-US" sz="4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Anatomy</a:t>
            </a:r>
            <a:r>
              <a:rPr b="1" i="0" lang="en-US" sz="4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of Risk</a:t>
            </a:r>
            <a:endParaRPr/>
          </a:p>
        </p:txBody>
      </p:sp>
      <p:pic>
        <p:nvPicPr>
          <p:cNvPr descr="image.png" id="138" name="Google Shape;13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739205"/>
            <a:ext cx="5267771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6334571" y="1729680"/>
            <a:ext cx="555022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Who are our high-risk customers?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6334571" y="2282130"/>
            <a:ext cx="528592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Our narrative reveals a specific pattern: </a:t>
            </a:r>
            <a:r>
              <a:rPr b="0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Early Career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and </a:t>
            </a:r>
            <a:r>
              <a:rPr b="0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Senior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demographics exhibit the highest delinquency rates.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6334571" y="3006030"/>
            <a:ext cx="5285928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Despite high income in some segments, poor </a:t>
            </a:r>
            <a:r>
              <a:rPr b="0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Credit Utilization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(exceeding 60%) is the primary catalyst for sliding into the Critical Risk segment.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7000" y="1729680"/>
            <a:ext cx="81915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7000" y="2253555"/>
            <a:ext cx="81915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7000" y="2777430"/>
            <a:ext cx="81915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7000" y="3301305"/>
            <a:ext cx="81915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571500" y="571500"/>
            <a:ext cx="6500812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Primary Driver: </a:t>
            </a:r>
            <a:r>
              <a:rPr b="1" i="0" lang="en-US" sz="4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Utilization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762000" y="3920430"/>
            <a:ext cx="10858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Key Insight: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Average Credit Utilization grows exponentially as customers move towards critical risk levels.</a:t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571500" y="3920430"/>
            <a:ext cx="38100" cy="2667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571500" y="1805880"/>
            <a:ext cx="1905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Low Risk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11049000" y="1805880"/>
            <a:ext cx="5715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28%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571500" y="2329755"/>
            <a:ext cx="1905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Medium Risk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11049000" y="2329755"/>
            <a:ext cx="5715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45%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571500" y="2853630"/>
            <a:ext cx="1905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High Risk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11049000" y="2853630"/>
            <a:ext cx="5715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68%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571500" y="3377505"/>
            <a:ext cx="1905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Critical Risk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11049000" y="3377505"/>
            <a:ext cx="5715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82%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2667000" y="1729680"/>
            <a:ext cx="2293590" cy="333375"/>
          </a:xfrm>
          <a:prstGeom prst="roundRect">
            <a:avLst>
              <a:gd fmla="val 22857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2667000" y="2253555"/>
            <a:ext cx="3686175" cy="333375"/>
          </a:xfrm>
          <a:prstGeom prst="roundRect">
            <a:avLst>
              <a:gd fmla="val 22857" name="adj"/>
            </a:avLst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2667000" y="2777430"/>
            <a:ext cx="5570190" cy="333375"/>
          </a:xfrm>
          <a:prstGeom prst="roundRect">
            <a:avLst>
              <a:gd fmla="val 22857" name="adj"/>
            </a:avLst>
          </a:prstGeom>
          <a:solidFill>
            <a:srgbClr val="FBBF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2667000" y="3301305"/>
            <a:ext cx="6716910" cy="333375"/>
          </a:xfrm>
          <a:prstGeom prst="roundRect">
            <a:avLst>
              <a:gd fmla="val 22857" name="adj"/>
            </a:avLst>
          </a:prstGeom>
          <a:solidFill>
            <a:srgbClr val="F871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571500" y="571500"/>
            <a:ext cx="6570821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Demographic </a:t>
            </a:r>
            <a:r>
              <a:rPr b="1" i="0" lang="en-US" sz="4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Risk</a:t>
            </a:r>
            <a:r>
              <a:rPr b="1" i="0" lang="en-US" sz="4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Pockets</a:t>
            </a:r>
            <a:endParaRPr/>
          </a:p>
        </p:txBody>
      </p:sp>
      <p:graphicFrame>
        <p:nvGraphicFramePr>
          <p:cNvPr id="172" name="Google Shape;172;p19"/>
          <p:cNvGraphicFramePr/>
          <p:nvPr/>
        </p:nvGraphicFramePr>
        <p:xfrm>
          <a:off x="571500" y="19201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{42878DDC-FFB7-46C4-826C-242B24A26B58}</a:tableStyleId>
              </a:tblPr>
              <a:tblGrid>
                <a:gridCol w="2065000"/>
                <a:gridCol w="2771025"/>
                <a:gridCol w="3265150"/>
                <a:gridCol w="2947850"/>
              </a:tblGrid>
              <a:tr h="4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Age Group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Avg. Credit Score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Avg. Debt-to-Income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Risk Concentration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4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Young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612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0.31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Medium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Early Career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545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0.39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717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Critical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Mid Career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680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0.28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Senior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490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0.42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717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3" name="Google Shape;173;p19"/>
          <p:cNvSpPr/>
          <p:nvPr/>
        </p:nvSpPr>
        <p:spPr>
          <a:xfrm>
            <a:off x="571500" y="2377380"/>
            <a:ext cx="2064990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2636490" y="2377380"/>
            <a:ext cx="2771030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5407521" y="2377380"/>
            <a:ext cx="3265140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8672661" y="2377380"/>
            <a:ext cx="2947838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571500" y="2867917"/>
            <a:ext cx="206499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2636490" y="2867917"/>
            <a:ext cx="277103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5407521" y="2867917"/>
            <a:ext cx="326514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8672661" y="2867917"/>
            <a:ext cx="294783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571500" y="3344167"/>
            <a:ext cx="206499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2636490" y="3344167"/>
            <a:ext cx="277103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5407521" y="3344167"/>
            <a:ext cx="326514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8672661" y="3344167"/>
            <a:ext cx="294783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571500" y="3820417"/>
            <a:ext cx="206499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2636490" y="3820417"/>
            <a:ext cx="277103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5407521" y="3820417"/>
            <a:ext cx="326514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8672661" y="3820417"/>
            <a:ext cx="294783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571500" y="4296667"/>
            <a:ext cx="206499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2636490" y="4296667"/>
            <a:ext cx="277103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5407521" y="4296667"/>
            <a:ext cx="326514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8672661" y="4296667"/>
            <a:ext cx="294783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3678" y="1729680"/>
            <a:ext cx="5286821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01280"/>
            <a:ext cx="5285928" cy="17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571500" y="571500"/>
            <a:ext cx="604075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Formulating </a:t>
            </a:r>
            <a:r>
              <a:rPr b="1" i="0" lang="en-US" sz="4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Hypotheses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571500" y="1729680"/>
            <a:ext cx="555022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Research Question: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571500" y="2282130"/>
            <a:ext cx="528592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"Is there a statistically significant difference in </a:t>
            </a: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Income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between Low Risk and High Risk customer segments?"</a:t>
            </a:r>
            <a:endParaRPr/>
          </a:p>
        </p:txBody>
      </p:sp>
      <p:pic>
        <p:nvPicPr>
          <p:cNvPr descr="image.png" id="203" name="Google Shape;20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203" y="1739205"/>
            <a:ext cx="5267771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762000" y="3482280"/>
            <a:ext cx="490492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H₀ (Null):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Risk segments share equal income means.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762000" y="3939480"/>
            <a:ext cx="490492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H₁ (Alt):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Income is significantly lower in higher risk segments.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01380"/>
            <a:ext cx="11049000" cy="1866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729680"/>
            <a:ext cx="355595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17950" y="1729680"/>
            <a:ext cx="355595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64400" y="1729680"/>
            <a:ext cx="3556099" cy="17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571500" y="571500"/>
            <a:ext cx="716089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Statistical </a:t>
            </a:r>
            <a:r>
              <a:rPr b="1" i="0" lang="en-US" sz="4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Validation</a:t>
            </a:r>
            <a:r>
              <a:rPr b="1" i="0" lang="en-US" sz="4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Results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866775" y="4196655"/>
            <a:ext cx="1098137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Conclusion: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866775" y="4749105"/>
            <a:ext cx="10458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Since </a:t>
            </a: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 &lt; 0.05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we reject the Null Hypothesis. Statistical testing confirms that income disparities across segments are not random, validating that economic standing is a primary risk determinant.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866775" y="2024955"/>
            <a:ext cx="2965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0.012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866775" y="2767905"/>
            <a:ext cx="2965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P-Value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4613225" y="2024955"/>
            <a:ext cx="2965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95%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4613225" y="2767905"/>
            <a:ext cx="2965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Confidence Level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8359675" y="2024955"/>
            <a:ext cx="2965549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2.41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8359675" y="2767905"/>
            <a:ext cx="296554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T-Statistic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2"/>
          <p:cNvSpPr txBox="1"/>
          <p:nvPr/>
        </p:nvSpPr>
        <p:spPr>
          <a:xfrm>
            <a:off x="571500" y="571500"/>
            <a:ext cx="6550818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Synthesis: </a:t>
            </a:r>
            <a:r>
              <a:rPr b="1" i="0" lang="en-US" sz="4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Key</a:t>
            </a:r>
            <a:r>
              <a:rPr b="1" i="0" lang="en-US" sz="4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Takeaways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904875" y="1882080"/>
            <a:ext cx="10715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Validation: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High Credit Utilization (&gt;70%) is a 98% accurate predictor of payment delinquency in our sample.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904875" y="2291655"/>
            <a:ext cx="10715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Correlation: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Income shows a strong negative correlation with Reliability Scores, particularly in the Phoenix and Chicago regions.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904875" y="2701230"/>
            <a:ext cx="10715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Risk Pockets: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The "Early Career" segment requires a specialized credit monitoring framework due to high DTI ratios.</a:t>
            </a:r>
            <a:endParaRPr/>
          </a:p>
        </p:txBody>
      </p:sp>
      <p:pic>
        <p:nvPicPr>
          <p:cNvPr descr="image.png" id="233" name="Google Shape;23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2494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3451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44092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29680"/>
            <a:ext cx="5286821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3"/>
          <p:cNvSpPr txBox="1"/>
          <p:nvPr/>
        </p:nvSpPr>
        <p:spPr>
          <a:xfrm>
            <a:off x="571500" y="571500"/>
            <a:ext cx="7110888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Strategic </a:t>
            </a:r>
            <a:r>
              <a:rPr b="1" i="0" lang="en-US" sz="4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Recommendations</a:t>
            </a:r>
            <a:endParaRPr/>
          </a:p>
        </p:txBody>
      </p:sp>
      <p:pic>
        <p:nvPicPr>
          <p:cNvPr descr="image.png" id="243" name="Google Shape;24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739205"/>
            <a:ext cx="5267771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6667946" y="1882080"/>
            <a:ext cx="4952553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Dynamic Credit Limits: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Automatically reduce limits when utilization consistently exceeds 65%.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6667946" y="2558355"/>
            <a:ext cx="4952553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Financial Wellness Programs: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Targeted outreach for "Early Career" segments in high-risk locations.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6667946" y="3234630"/>
            <a:ext cx="4952553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Portfolio Rebalancing: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Shift focus to Mid-Career demographics to stabilize reliability scores.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4"/>
          <p:cNvSpPr txBox="1"/>
          <p:nvPr/>
        </p:nvSpPr>
        <p:spPr>
          <a:xfrm>
            <a:off x="295275" y="2127944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Thank </a:t>
            </a:r>
            <a:r>
              <a:rPr b="1" i="0" lang="en-US" sz="5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You</a:t>
            </a:r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571500" y="3072705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Questions &amp; Feedback</a:t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571500" y="3815655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Data Analytics Intern | ApexPlanet Software Pvt. Ltd.</a:t>
            </a:r>
            <a:endParaRPr/>
          </a:p>
        </p:txBody>
      </p:sp>
      <p:sp>
        <p:nvSpPr>
          <p:cNvPr id="255" name="Google Shape;255;p24"/>
          <p:cNvSpPr txBox="1"/>
          <p:nvPr/>
        </p:nvSpPr>
        <p:spPr>
          <a:xfrm>
            <a:off x="571500" y="4272855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Task 4: Storytelling &amp; Validation Completed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